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" panose="020B0604020202020204" charset="0"/>
      <p:regular r:id="rId9"/>
    </p:embeddedFont>
    <p:embeddedFont>
      <p:font typeface="Helvetica Now" panose="020B0604020202020204" charset="0"/>
      <p:regular r:id="rId10"/>
    </p:embeddedFont>
    <p:embeddedFont>
      <p:font typeface="Helvetica Now Bold" panose="020B0604020202020204" charset="0"/>
      <p:regular r:id="rId11"/>
    </p:embeddedFon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Inter Medium" panose="020B0604020202020204" charset="0"/>
      <p:regular r:id="rId14"/>
    </p:embeddedFont>
    <p:embeddedFont>
      <p:font typeface="Inter Semi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5330" y="6428009"/>
            <a:ext cx="7415828" cy="3006296"/>
          </a:xfrm>
          <a:custGeom>
            <a:avLst/>
            <a:gdLst/>
            <a:ahLst/>
            <a:cxnLst/>
            <a:rect l="l" t="t" r="r" b="b"/>
            <a:pathLst>
              <a:path w="7415828" h="3006296">
                <a:moveTo>
                  <a:pt x="0" y="0"/>
                </a:moveTo>
                <a:lnTo>
                  <a:pt x="7415828" y="0"/>
                </a:lnTo>
                <a:lnTo>
                  <a:pt x="741582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10716" y="6788157"/>
            <a:ext cx="5657010" cy="3842543"/>
            <a:chOff x="0" y="0"/>
            <a:chExt cx="7542680" cy="51233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542680" cy="5021791"/>
            </a:xfrm>
            <a:custGeom>
              <a:avLst/>
              <a:gdLst/>
              <a:ahLst/>
              <a:cxnLst/>
              <a:rect l="l" t="t" r="r" b="b"/>
              <a:pathLst>
                <a:path w="7542680" h="5021791">
                  <a:moveTo>
                    <a:pt x="0" y="0"/>
                  </a:moveTo>
                  <a:lnTo>
                    <a:pt x="7542680" y="0"/>
                  </a:lnTo>
                  <a:lnTo>
                    <a:pt x="7542680" y="5021791"/>
                  </a:lnTo>
                  <a:lnTo>
                    <a:pt x="0" y="5021791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7542680" cy="5123391"/>
            </a:xfrm>
            <a:custGeom>
              <a:avLst/>
              <a:gdLst/>
              <a:ahLst/>
              <a:cxnLst/>
              <a:rect l="l" t="t" r="r" b="b"/>
              <a:pathLst>
                <a:path w="7542680" h="5123391">
                  <a:moveTo>
                    <a:pt x="0" y="5021791"/>
                  </a:moveTo>
                  <a:lnTo>
                    <a:pt x="7542680" y="5021791"/>
                  </a:lnTo>
                  <a:lnTo>
                    <a:pt x="7415680" y="5123391"/>
                  </a:lnTo>
                  <a:cubicBezTo>
                    <a:pt x="7415680" y="5123391"/>
                    <a:pt x="6425080" y="5047191"/>
                    <a:pt x="6323480" y="5047191"/>
                  </a:cubicBezTo>
                  <a:lnTo>
                    <a:pt x="1219200" y="5047191"/>
                  </a:lnTo>
                  <a:cubicBezTo>
                    <a:pt x="1117600" y="5047191"/>
                    <a:pt x="127000" y="5123391"/>
                    <a:pt x="127000" y="5123391"/>
                  </a:cubicBezTo>
                  <a:lnTo>
                    <a:pt x="0" y="5021791"/>
                  </a:lnTo>
                  <a:lnTo>
                    <a:pt x="0" y="0"/>
                  </a:lnTo>
                  <a:lnTo>
                    <a:pt x="7542680" y="0"/>
                  </a:lnTo>
                  <a:lnTo>
                    <a:pt x="7542680" y="5021791"/>
                  </a:lnTo>
                  <a:lnTo>
                    <a:pt x="12700" y="5021791"/>
                  </a:lnTo>
                  <a:lnTo>
                    <a:pt x="12700" y="5009091"/>
                  </a:lnTo>
                  <a:lnTo>
                    <a:pt x="7529980" y="5009091"/>
                  </a:lnTo>
                  <a:lnTo>
                    <a:pt x="7529980" y="12700"/>
                  </a:lnTo>
                  <a:lnTo>
                    <a:pt x="12700" y="12700"/>
                  </a:lnTo>
                  <a:lnTo>
                    <a:pt x="12700" y="5021791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542680" cy="4621741"/>
            </a:xfrm>
            <a:prstGeom prst="rect">
              <a:avLst/>
            </a:prstGeom>
          </p:spPr>
          <p:txBody>
            <a:bodyPr lIns="203200" tIns="203200" rIns="203200" bIns="203200" rtlCol="0" anchor="t"/>
            <a:lstStyle/>
            <a:p>
              <a:pPr algn="l">
                <a:lnSpc>
                  <a:spcPts val="3514"/>
                </a:lnSpc>
              </a:pPr>
              <a:r>
                <a:rPr lang="en-US" sz="251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S.MAHALAKSHMI</a:t>
              </a:r>
            </a:p>
            <a:p>
              <a:pPr algn="l">
                <a:lnSpc>
                  <a:spcPts val="3514"/>
                </a:lnSpc>
              </a:pPr>
              <a:r>
                <a:rPr lang="en-US" sz="251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192524372</a:t>
              </a:r>
            </a:p>
            <a:p>
              <a:pPr algn="l">
                <a:lnSpc>
                  <a:spcPts val="3514"/>
                </a:lnSpc>
              </a:pPr>
              <a:r>
                <a:rPr lang="en-US" sz="251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COMPLIER DESIGN </a:t>
              </a:r>
            </a:p>
            <a:p>
              <a:pPr algn="l">
                <a:lnSpc>
                  <a:spcPts val="3514"/>
                </a:lnSpc>
              </a:pPr>
              <a:r>
                <a:rPr lang="en-US" sz="251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CSA1410</a:t>
              </a:r>
            </a:p>
            <a:p>
              <a:pPr algn="l">
                <a:lnSpc>
                  <a:spcPts val="3514"/>
                </a:lnSpc>
              </a:pPr>
              <a:endParaRPr lang="en-US" sz="25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14"/>
                </a:lnSpc>
              </a:pPr>
              <a:r>
                <a:rPr lang="en-US" sz="251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FACULTY:</a:t>
              </a:r>
            </a:p>
            <a:p>
              <a:pPr algn="l">
                <a:lnSpc>
                  <a:spcPts val="3514"/>
                </a:lnSpc>
              </a:pPr>
              <a:r>
                <a:rPr lang="en-US" sz="251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Dr.N.Deepa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33823" y="914063"/>
            <a:ext cx="6984844" cy="313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2"/>
              </a:lnSpc>
            </a:pPr>
            <a:r>
              <a:rPr lang="en-US" sz="11507" b="1">
                <a:solidFill>
                  <a:srgbClr val="22406B"/>
                </a:solidFill>
                <a:latin typeface="Inter Bold"/>
                <a:ea typeface="Inter Bold"/>
                <a:cs typeface="Inter Bold"/>
                <a:sym typeface="Inter Bold"/>
              </a:rPr>
              <a:t>Breaking</a:t>
            </a:r>
          </a:p>
          <a:p>
            <a:pPr algn="l">
              <a:lnSpc>
                <a:spcPts val="12192"/>
              </a:lnSpc>
            </a:pPr>
            <a:r>
              <a:rPr lang="en-US" sz="11507" b="1">
                <a:solidFill>
                  <a:srgbClr val="22406B"/>
                </a:solidFill>
                <a:latin typeface="Inter Bold"/>
                <a:ea typeface="Inter Bold"/>
                <a:cs typeface="Inter Bold"/>
                <a:sym typeface="Inter Bold"/>
              </a:rPr>
              <a:t>the Code: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5720" y="4297900"/>
            <a:ext cx="8795210" cy="520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805" b="1">
                <a:solidFill>
                  <a:srgbClr val="2A70C7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Understanding Tokens and Lexemes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2056" y="5167267"/>
            <a:ext cx="8161558" cy="39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8"/>
              </a:lnSpc>
            </a:pPr>
            <a:r>
              <a:rPr lang="en-US" sz="2896">
                <a:solidFill>
                  <a:srgbClr val="395270"/>
                </a:solidFill>
                <a:latin typeface="Inter"/>
                <a:ea typeface="Inter"/>
                <a:cs typeface="Inter"/>
                <a:sym typeface="Inter"/>
              </a:rPr>
              <a:t>How Compilers Identify the Parts of a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635716"/>
            <a:ext cx="18288000" cy="3651284"/>
          </a:xfrm>
          <a:custGeom>
            <a:avLst/>
            <a:gdLst/>
            <a:ahLst/>
            <a:cxnLst/>
            <a:rect l="l" t="t" r="r" b="b"/>
            <a:pathLst>
              <a:path w="18288000" h="3651284">
                <a:moveTo>
                  <a:pt x="0" y="0"/>
                </a:moveTo>
                <a:lnTo>
                  <a:pt x="18288000" y="0"/>
                </a:lnTo>
                <a:lnTo>
                  <a:pt x="1828800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97873" y="703514"/>
            <a:ext cx="7900951" cy="2260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8"/>
              </a:lnSpc>
            </a:pPr>
            <a:r>
              <a:rPr lang="en-US" sz="7822" b="1">
                <a:solidFill>
                  <a:srgbClr val="274064"/>
                </a:solidFill>
                <a:latin typeface="Inter Bold"/>
                <a:ea typeface="Inter Bold"/>
                <a:cs typeface="Inter Bold"/>
                <a:sym typeface="Inter Bold"/>
              </a:rPr>
              <a:t>Introduction to Lexical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3020" y="3384377"/>
            <a:ext cx="7386274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22">
                <a:solidFill>
                  <a:srgbClr val="45556B"/>
                </a:solidFill>
                <a:latin typeface="Helvetica Now"/>
                <a:ea typeface="Helvetica Now"/>
                <a:cs typeface="Helvetica Now"/>
                <a:sym typeface="Helvetica Now"/>
              </a:rPr>
              <a:t>The first phase of a compiler that reads source code.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445" y="3986811"/>
            <a:ext cx="5343824" cy="83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22">
                <a:solidFill>
                  <a:srgbClr val="45556B"/>
                </a:solidFill>
                <a:latin typeface="Helvetica Now"/>
                <a:ea typeface="Helvetica Now"/>
                <a:cs typeface="Helvetica Now"/>
                <a:sym typeface="Helvetica Now"/>
              </a:rPr>
              <a:t>It breaks the source code into smaller,</a:t>
            </a:r>
          </a:p>
          <a:p>
            <a:pPr algn="l">
              <a:lnSpc>
                <a:spcPts val="3467"/>
              </a:lnSpc>
            </a:pPr>
            <a:r>
              <a:rPr lang="en-US" sz="2311" spc="-22">
                <a:solidFill>
                  <a:srgbClr val="45556B"/>
                </a:solidFill>
                <a:latin typeface="Helvetica Now"/>
                <a:ea typeface="Helvetica Now"/>
                <a:cs typeface="Helvetica Now"/>
                <a:sym typeface="Helvetica Now"/>
              </a:rPr>
              <a:t>meaningful parts.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7280704"/>
            <a:ext cx="5020450" cy="2579949"/>
          </a:xfrm>
          <a:custGeom>
            <a:avLst/>
            <a:gdLst/>
            <a:ahLst/>
            <a:cxnLst/>
            <a:rect l="l" t="t" r="r" b="b"/>
            <a:pathLst>
              <a:path w="5020450" h="2579949">
                <a:moveTo>
                  <a:pt x="0" y="0"/>
                </a:moveTo>
                <a:lnTo>
                  <a:pt x="5020450" y="0"/>
                </a:lnTo>
                <a:lnTo>
                  <a:pt x="5020450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50425" y="7847699"/>
            <a:ext cx="2297067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24">
                <a:solidFill>
                  <a:srgbClr val="274064">
                    <a:alpha val="80000"/>
                  </a:srgbClr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SOURCE CODE</a:t>
            </a:r>
          </a:p>
        </p:txBody>
      </p:sp>
      <p:sp>
        <p:nvSpPr>
          <p:cNvPr id="9" name="Freeform 9"/>
          <p:cNvSpPr/>
          <p:nvPr/>
        </p:nvSpPr>
        <p:spPr>
          <a:xfrm>
            <a:off x="6529866" y="7280704"/>
            <a:ext cx="4801694" cy="2579949"/>
          </a:xfrm>
          <a:custGeom>
            <a:avLst/>
            <a:gdLst/>
            <a:ahLst/>
            <a:cxnLst/>
            <a:rect l="l" t="t" r="r" b="b"/>
            <a:pathLst>
              <a:path w="4801694" h="2579949">
                <a:moveTo>
                  <a:pt x="0" y="0"/>
                </a:moveTo>
                <a:lnTo>
                  <a:pt x="4801694" y="0"/>
                </a:lnTo>
                <a:lnTo>
                  <a:pt x="4801694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253233" y="7772394"/>
            <a:ext cx="3151812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24">
                <a:solidFill>
                  <a:srgbClr val="FFFFFF">
                    <a:alpha val="80000"/>
                  </a:srgbClr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LEXICAL ANALYZER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9521" y="8457219"/>
            <a:ext cx="2568543" cy="557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spc="-17">
                <a:solidFill>
                  <a:srgbClr val="FFFFFF">
                    <a:alpha val="80000"/>
                  </a:srgbClr>
                </a:solidFill>
                <a:latin typeface="Helvetica Now"/>
                <a:ea typeface="Helvetica Now"/>
                <a:cs typeface="Helvetica Now"/>
                <a:sym typeface="Helvetica Now"/>
              </a:rPr>
              <a:t>Scans and breaks code</a:t>
            </a:r>
          </a:p>
          <a:p>
            <a:pPr algn="ctr">
              <a:lnSpc>
                <a:spcPts val="2353"/>
              </a:lnSpc>
            </a:pPr>
            <a:r>
              <a:rPr lang="en-US" sz="1810" spc="-17">
                <a:solidFill>
                  <a:srgbClr val="FFFFFF">
                    <a:alpha val="80000"/>
                  </a:srgbClr>
                </a:solidFill>
                <a:latin typeface="Helvetica Now"/>
                <a:ea typeface="Helvetica Now"/>
                <a:cs typeface="Helvetica Now"/>
                <a:sym typeface="Helvetica Now"/>
              </a:rPr>
              <a:t>into meaningful parts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403464" y="7280704"/>
            <a:ext cx="4801694" cy="2579949"/>
          </a:xfrm>
          <a:custGeom>
            <a:avLst/>
            <a:gdLst/>
            <a:ahLst/>
            <a:cxnLst/>
            <a:rect l="l" t="t" r="r" b="b"/>
            <a:pathLst>
              <a:path w="4801694" h="2579949">
                <a:moveTo>
                  <a:pt x="0" y="0"/>
                </a:moveTo>
                <a:lnTo>
                  <a:pt x="4801694" y="0"/>
                </a:lnTo>
                <a:lnTo>
                  <a:pt x="4801694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623612" y="8457219"/>
            <a:ext cx="2206814" cy="557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spc="-17">
                <a:solidFill>
                  <a:srgbClr val="45556B"/>
                </a:solidFill>
                <a:latin typeface="Helvetica Now"/>
                <a:ea typeface="Helvetica Now"/>
                <a:cs typeface="Helvetica Now"/>
                <a:sym typeface="Helvetica Now"/>
              </a:rPr>
              <a:t>Sequence of tokens</a:t>
            </a:r>
          </a:p>
          <a:p>
            <a:pPr algn="ctr">
              <a:lnSpc>
                <a:spcPts val="2353"/>
              </a:lnSpc>
            </a:pPr>
            <a:r>
              <a:rPr lang="en-US" sz="1810" spc="-17">
                <a:solidFill>
                  <a:srgbClr val="45556B"/>
                </a:solidFill>
                <a:latin typeface="Helvetica Now"/>
                <a:ea typeface="Helvetica Now"/>
                <a:cs typeface="Helvetica Now"/>
                <a:sym typeface="Helvetica Now"/>
              </a:rPr>
              <a:t>for the next phase</a:t>
            </a:r>
          </a:p>
        </p:txBody>
      </p:sp>
      <p:sp>
        <p:nvSpPr>
          <p:cNvPr id="14" name="Freeform 14"/>
          <p:cNvSpPr/>
          <p:nvPr/>
        </p:nvSpPr>
        <p:spPr>
          <a:xfrm>
            <a:off x="5654842" y="8133399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320622" y="8133399"/>
            <a:ext cx="1093780" cy="655919"/>
          </a:xfrm>
          <a:custGeom>
            <a:avLst/>
            <a:gdLst/>
            <a:ahLst/>
            <a:cxnLst/>
            <a:rect l="l" t="t" r="r" b="b"/>
            <a:pathLst>
              <a:path w="1093780" h="655919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226842" y="0"/>
            <a:ext cx="8061158" cy="6865288"/>
          </a:xfrm>
          <a:custGeom>
            <a:avLst/>
            <a:gdLst/>
            <a:ahLst/>
            <a:cxnLst/>
            <a:rect l="l" t="t" r="r" b="b"/>
            <a:pathLst>
              <a:path w="8061158" h="6865288">
                <a:moveTo>
                  <a:pt x="0" y="0"/>
                </a:moveTo>
                <a:lnTo>
                  <a:pt x="8061158" y="0"/>
                </a:lnTo>
                <a:lnTo>
                  <a:pt x="8061158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45820" y="5649306"/>
            <a:ext cx="3106268" cy="414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45556B"/>
                </a:solidFill>
                <a:latin typeface="Helvetica Now"/>
                <a:ea typeface="Helvetica Now"/>
                <a:cs typeface="Helvetica Now"/>
                <a:sym typeface="Helvetica Now"/>
              </a:rPr>
              <a:t>     </a:t>
            </a:r>
          </a:p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45556B"/>
                </a:solidFill>
                <a:latin typeface="Helvetica Now"/>
                <a:ea typeface="Helvetica Now"/>
                <a:cs typeface="Helvetica Now"/>
                <a:sym typeface="Helvetica Now"/>
              </a:rPr>
              <a:t>The </a:t>
            </a:r>
            <a:r>
              <a:rPr lang="en-US" sz="1125" b="1" spc="-10">
                <a:solidFill>
                  <a:srgbClr val="3E70B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Lexemes</a:t>
            </a:r>
            <a:r>
              <a:rPr lang="en-US" sz="1125" spc="-10">
                <a:solidFill>
                  <a:srgbClr val="45556B"/>
                </a:solidFill>
                <a:latin typeface="Helvetica Now"/>
                <a:ea typeface="Helvetica Now"/>
                <a:cs typeface="Helvetica Now"/>
                <a:sym typeface="Helvetica Now"/>
              </a:rPr>
              <a:t> are actual text seen in the code.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4776" y="5010948"/>
            <a:ext cx="3210691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22">
                <a:solidFill>
                  <a:srgbClr val="3E70B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Tokens</a:t>
            </a:r>
            <a:r>
              <a:rPr lang="en-US" sz="2311" spc="-22">
                <a:solidFill>
                  <a:srgbClr val="45556B"/>
                </a:solidFill>
                <a:latin typeface="Helvetica Now"/>
                <a:ea typeface="Helvetica Now"/>
                <a:cs typeface="Helvetica Now"/>
                <a:sym typeface="Helvetica Now"/>
              </a:rPr>
              <a:t> are categories.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93896" y="8484857"/>
            <a:ext cx="2010125" cy="32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spc="-18">
                <a:solidFill>
                  <a:srgbClr val="45556B"/>
                </a:solidFill>
                <a:latin typeface="Helvetica Now"/>
                <a:ea typeface="Helvetica Now"/>
                <a:cs typeface="Helvetica Now"/>
                <a:sym typeface="Helvetica Now"/>
              </a:rPr>
              <a:t>Raw program text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072083" y="7772394"/>
            <a:ext cx="1309872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24">
                <a:solidFill>
                  <a:srgbClr val="274064">
                    <a:alpha val="80000"/>
                  </a:srgbClr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TOKENS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2307" y="913583"/>
            <a:ext cx="4457559" cy="2294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9"/>
              </a:lnSpc>
            </a:pPr>
            <a:r>
              <a:rPr lang="en-US" sz="7523" b="1">
                <a:solidFill>
                  <a:srgbClr val="32486B"/>
                </a:solidFill>
                <a:latin typeface="Inter Bold"/>
                <a:ea typeface="Inter Bold"/>
                <a:cs typeface="Inter Bold"/>
                <a:sym typeface="Inter Bold"/>
              </a:rPr>
              <a:t>What Are Tokens?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3640352"/>
            <a:ext cx="1750048" cy="218640"/>
          </a:xfrm>
          <a:custGeom>
            <a:avLst/>
            <a:gdLst/>
            <a:ahLst/>
            <a:cxnLst/>
            <a:rect l="l" t="t" r="r" b="b"/>
            <a:pathLst>
              <a:path w="1750048" h="218640">
                <a:moveTo>
                  <a:pt x="0" y="0"/>
                </a:moveTo>
                <a:lnTo>
                  <a:pt x="1750048" y="0"/>
                </a:lnTo>
                <a:lnTo>
                  <a:pt x="175004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0257" y="4184729"/>
            <a:ext cx="6020411" cy="121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3102">
                <a:solidFill>
                  <a:srgbClr val="32486B"/>
                </a:solidFill>
                <a:latin typeface="Inter"/>
                <a:ea typeface="Inter"/>
                <a:cs typeface="Inter"/>
                <a:sym typeface="Inter"/>
              </a:rPr>
              <a:t>Tokens are the building blocks of a program.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7922" y="6533820"/>
            <a:ext cx="4253853" cy="215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0"/>
              </a:lnSpc>
            </a:pPr>
            <a:r>
              <a:rPr lang="en-US" sz="3893">
                <a:solidFill>
                  <a:srgbClr val="32486B"/>
                </a:solidFill>
                <a:latin typeface="Helvetica Now"/>
                <a:ea typeface="Helvetica Now"/>
                <a:cs typeface="Helvetica Now"/>
                <a:sym typeface="Helvetica Now"/>
              </a:rPr>
              <a:t>Each token is a</a:t>
            </a:r>
          </a:p>
          <a:p>
            <a:pPr algn="l">
              <a:lnSpc>
                <a:spcPts val="5840"/>
              </a:lnSpc>
            </a:pPr>
            <a:r>
              <a:rPr lang="en-US" sz="3893" b="1">
                <a:solidFill>
                  <a:srgbClr val="3C6CB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category or type</a:t>
            </a:r>
          </a:p>
          <a:p>
            <a:pPr algn="l">
              <a:lnSpc>
                <a:spcPts val="5840"/>
              </a:lnSpc>
            </a:pPr>
            <a:r>
              <a:rPr lang="en-US" sz="3893">
                <a:solidFill>
                  <a:srgbClr val="32486B"/>
                </a:solidFill>
                <a:latin typeface="Helvetica Now"/>
                <a:ea typeface="Helvetica Now"/>
                <a:cs typeface="Helvetica Now"/>
                <a:sym typeface="Helvetica Now"/>
              </a:rPr>
              <a:t>of symbol in code.</a:t>
            </a:r>
          </a:p>
        </p:txBody>
      </p:sp>
      <p:sp>
        <p:nvSpPr>
          <p:cNvPr id="7" name="Freeform 7"/>
          <p:cNvSpPr/>
          <p:nvPr/>
        </p:nvSpPr>
        <p:spPr>
          <a:xfrm>
            <a:off x="8050220" y="1279043"/>
            <a:ext cx="3062584" cy="1508614"/>
          </a:xfrm>
          <a:custGeom>
            <a:avLst/>
            <a:gdLst/>
            <a:ahLst/>
            <a:cxnLst/>
            <a:rect l="l" t="t" r="r" b="b"/>
            <a:pathLst>
              <a:path w="3062584" h="1508614">
                <a:moveTo>
                  <a:pt x="0" y="0"/>
                </a:moveTo>
                <a:lnTo>
                  <a:pt x="3062584" y="0"/>
                </a:lnTo>
                <a:lnTo>
                  <a:pt x="3062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478948" y="1833416"/>
            <a:ext cx="1924644" cy="38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8" b="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KEYWORDS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70154" y="1518070"/>
            <a:ext cx="1025259" cy="82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9"/>
              </a:lnSpc>
            </a:pPr>
            <a:r>
              <a:rPr lang="en-US" sz="4394">
                <a:solidFill>
                  <a:srgbClr val="3C6CB2"/>
                </a:solidFill>
                <a:latin typeface="Helvetica Now"/>
                <a:ea typeface="Helvetica Now"/>
                <a:cs typeface="Helvetica Now"/>
                <a:sym typeface="Helvetica Now"/>
              </a:rPr>
              <a:t>int</a:t>
            </a:r>
          </a:p>
        </p:txBody>
      </p:sp>
      <p:sp>
        <p:nvSpPr>
          <p:cNvPr id="10" name="Freeform 10"/>
          <p:cNvSpPr/>
          <p:nvPr/>
        </p:nvSpPr>
        <p:spPr>
          <a:xfrm>
            <a:off x="8050220" y="2776725"/>
            <a:ext cx="3062584" cy="1727254"/>
          </a:xfrm>
          <a:custGeom>
            <a:avLst/>
            <a:gdLst/>
            <a:ahLst/>
            <a:cxnLst/>
            <a:rect l="l" t="t" r="r" b="b"/>
            <a:pathLst>
              <a:path w="3062584" h="1727254">
                <a:moveTo>
                  <a:pt x="0" y="0"/>
                </a:moveTo>
                <a:lnTo>
                  <a:pt x="3062584" y="0"/>
                </a:lnTo>
                <a:lnTo>
                  <a:pt x="306258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89386" y="3421543"/>
            <a:ext cx="2103767" cy="410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8"/>
              </a:lnSpc>
            </a:pPr>
            <a:r>
              <a:rPr lang="en-US" sz="2707" b="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IDENTIFIERS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97828" y="3371503"/>
            <a:ext cx="2866430" cy="44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1">
                <a:solidFill>
                  <a:srgbClr val="32486B"/>
                </a:solidFill>
                <a:latin typeface="Helvetica Now"/>
                <a:ea typeface="Helvetica Now"/>
                <a:cs typeface="Helvetica Now"/>
                <a:sym typeface="Helvetica Now"/>
              </a:rPr>
              <a:t>names in code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70154" y="3114519"/>
            <a:ext cx="1025259" cy="82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9"/>
              </a:lnSpc>
            </a:pPr>
            <a:r>
              <a:rPr lang="en-US" sz="4394">
                <a:solidFill>
                  <a:srgbClr val="3C6CB2"/>
                </a:solidFill>
                <a:latin typeface="Helvetica Now"/>
                <a:ea typeface="Helvetica Now"/>
                <a:cs typeface="Helvetica Now"/>
                <a:sym typeface="Helvetica Now"/>
              </a:rPr>
              <a:t>age</a:t>
            </a:r>
          </a:p>
        </p:txBody>
      </p:sp>
      <p:sp>
        <p:nvSpPr>
          <p:cNvPr id="14" name="Freeform 14"/>
          <p:cNvSpPr/>
          <p:nvPr/>
        </p:nvSpPr>
        <p:spPr>
          <a:xfrm>
            <a:off x="8050220" y="4285339"/>
            <a:ext cx="3062584" cy="1716322"/>
          </a:xfrm>
          <a:custGeom>
            <a:avLst/>
            <a:gdLst/>
            <a:ahLst/>
            <a:cxnLst/>
            <a:rect l="l" t="t" r="r" b="b"/>
            <a:pathLst>
              <a:path w="3062584" h="1716322">
                <a:moveTo>
                  <a:pt x="0" y="0"/>
                </a:moveTo>
                <a:lnTo>
                  <a:pt x="3062584" y="0"/>
                </a:lnTo>
                <a:lnTo>
                  <a:pt x="306258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390097" y="4996794"/>
            <a:ext cx="2102344" cy="39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654" b="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OPERATORS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97828" y="4937830"/>
            <a:ext cx="2866430" cy="44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1">
                <a:solidFill>
                  <a:srgbClr val="32486B"/>
                </a:solidFill>
                <a:latin typeface="Helvetica Now"/>
                <a:ea typeface="Helvetica Now"/>
                <a:cs typeface="Helvetica Now"/>
                <a:sym typeface="Helvetica Now"/>
              </a:rPr>
              <a:t>perform actions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76989" y="4605542"/>
            <a:ext cx="341753" cy="82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9"/>
              </a:lnSpc>
            </a:pPr>
            <a:r>
              <a:rPr lang="en-US" sz="4394">
                <a:solidFill>
                  <a:srgbClr val="5EB3B2"/>
                </a:solidFill>
                <a:latin typeface="Helvetica Now"/>
                <a:ea typeface="Helvetica Now"/>
                <a:cs typeface="Helvetica Now"/>
                <a:sym typeface="Helvetica Now"/>
              </a:rPr>
              <a:t>+</a:t>
            </a:r>
          </a:p>
        </p:txBody>
      </p:sp>
      <p:sp>
        <p:nvSpPr>
          <p:cNvPr id="18" name="Freeform 18"/>
          <p:cNvSpPr/>
          <p:nvPr/>
        </p:nvSpPr>
        <p:spPr>
          <a:xfrm>
            <a:off x="8050220" y="5990729"/>
            <a:ext cx="3062584" cy="1519546"/>
          </a:xfrm>
          <a:custGeom>
            <a:avLst/>
            <a:gdLst/>
            <a:ahLst/>
            <a:cxnLst/>
            <a:rect l="l" t="t" r="r" b="b"/>
            <a:pathLst>
              <a:path w="3062584" h="1519546">
                <a:moveTo>
                  <a:pt x="0" y="0"/>
                </a:moveTo>
                <a:lnTo>
                  <a:pt x="3062584" y="0"/>
                </a:lnTo>
                <a:lnTo>
                  <a:pt x="306258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367240" y="6593243"/>
            <a:ext cx="2148059" cy="39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601" b="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CONSTANTS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70604" y="6300544"/>
            <a:ext cx="980211" cy="81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45"/>
              </a:lnSpc>
            </a:pPr>
            <a:r>
              <a:rPr lang="en-US" sz="4341" b="1">
                <a:solidFill>
                  <a:srgbClr val="5EB3B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100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50220" y="7499343"/>
            <a:ext cx="3062584" cy="1716322"/>
          </a:xfrm>
          <a:custGeom>
            <a:avLst/>
            <a:gdLst/>
            <a:ahLst/>
            <a:cxnLst/>
            <a:rect l="l" t="t" r="r" b="b"/>
            <a:pathLst>
              <a:path w="3062584" h="1716322">
                <a:moveTo>
                  <a:pt x="0" y="0"/>
                </a:moveTo>
                <a:lnTo>
                  <a:pt x="3062584" y="0"/>
                </a:lnTo>
                <a:lnTo>
                  <a:pt x="306258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285493" y="8008362"/>
            <a:ext cx="2311553" cy="7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2430" b="1">
                <a:solidFill>
                  <a:srgbClr val="32486B"/>
                </a:solidFill>
                <a:latin typeface="Inter Bold"/>
                <a:ea typeface="Inter Bold"/>
                <a:cs typeface="Inter Bold"/>
                <a:sym typeface="Inter Bold"/>
              </a:rPr>
              <a:t>PUNCTUATION SYMBOLS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97828" y="8132432"/>
            <a:ext cx="2866430" cy="41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254">
                <a:solidFill>
                  <a:srgbClr val="32486B"/>
                </a:solidFill>
                <a:latin typeface="Helvetica Now"/>
                <a:ea typeface="Helvetica Now"/>
                <a:cs typeface="Helvetica Now"/>
                <a:sym typeface="Helvetica Now"/>
              </a:rPr>
              <a:t>separate instructions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97828" y="1775053"/>
            <a:ext cx="2866430" cy="44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1">
                <a:solidFill>
                  <a:srgbClr val="32486B"/>
                </a:solidFill>
                <a:latin typeface="Helvetica Now"/>
                <a:ea typeface="Helvetica Now"/>
                <a:cs typeface="Helvetica Now"/>
                <a:sym typeface="Helvetica Now"/>
              </a:rPr>
              <a:t>reserved words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97828" y="6534279"/>
            <a:ext cx="2866430" cy="44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1">
                <a:solidFill>
                  <a:srgbClr val="32486B"/>
                </a:solidFill>
                <a:latin typeface="Helvetica Now"/>
                <a:ea typeface="Helvetica Now"/>
                <a:cs typeface="Helvetica Now"/>
                <a:sym typeface="Helvetica Now"/>
              </a:rPr>
              <a:t>fixed values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76989" y="7738197"/>
            <a:ext cx="341753" cy="82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9"/>
              </a:lnSpc>
            </a:pPr>
            <a:r>
              <a:rPr lang="en-US" sz="4394">
                <a:solidFill>
                  <a:srgbClr val="5EB3B2"/>
                </a:solidFill>
                <a:latin typeface="Helvetica Now"/>
                <a:ea typeface="Helvetica Now"/>
                <a:cs typeface="Helvetica Now"/>
                <a:sym typeface="Helvetica Now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45598" y="634055"/>
            <a:ext cx="7842402" cy="9652945"/>
          </a:xfrm>
          <a:custGeom>
            <a:avLst/>
            <a:gdLst/>
            <a:ahLst/>
            <a:cxnLst/>
            <a:rect l="l" t="t" r="r" b="b"/>
            <a:pathLst>
              <a:path w="7842402" h="9652945">
                <a:moveTo>
                  <a:pt x="0" y="0"/>
                </a:moveTo>
                <a:lnTo>
                  <a:pt x="7842402" y="0"/>
                </a:lnTo>
                <a:lnTo>
                  <a:pt x="7842402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24852" y="853691"/>
            <a:ext cx="9845280" cy="1037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822" b="1">
                <a:solidFill>
                  <a:srgbClr val="203D62"/>
                </a:solidFill>
                <a:latin typeface="Inter Bold"/>
                <a:ea typeface="Inter Bold"/>
                <a:cs typeface="Inter Bold"/>
                <a:sym typeface="Inter Bold"/>
              </a:rPr>
              <a:t>What Are Lexemes?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5325" y="2354648"/>
            <a:ext cx="7798007" cy="9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>
                <a:solidFill>
                  <a:srgbClr val="3F4E66"/>
                </a:solidFill>
                <a:latin typeface="Inter"/>
                <a:ea typeface="Inter"/>
                <a:cs typeface="Inter"/>
                <a:sym typeface="Inter"/>
              </a:rPr>
              <a:t>Lexemes are the </a:t>
            </a:r>
            <a:r>
              <a:rPr lang="en-US" sz="2759" b="1">
                <a:solidFill>
                  <a:srgbClr val="2B67B4"/>
                </a:solidFill>
                <a:latin typeface="Inter Bold"/>
                <a:ea typeface="Inter Bold"/>
                <a:cs typeface="Inter Bold"/>
                <a:sym typeface="Inter Bold"/>
              </a:rPr>
              <a:t>actual character sequences</a:t>
            </a:r>
            <a:r>
              <a:rPr lang="en-US" sz="2759">
                <a:solidFill>
                  <a:srgbClr val="3F4E66"/>
                </a:solidFill>
                <a:latin typeface="Inter"/>
                <a:ea typeface="Inter"/>
                <a:cs typeface="Inter"/>
                <a:sym typeface="Inter"/>
              </a:rPr>
              <a:t> written in source code that match a token.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5430" y="3589637"/>
            <a:ext cx="7787513" cy="4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>
                <a:solidFill>
                  <a:srgbClr val="3F4E66"/>
                </a:solidFill>
                <a:latin typeface="Inter"/>
                <a:ea typeface="Inter"/>
                <a:cs typeface="Inter"/>
                <a:sym typeface="Inter"/>
              </a:rPr>
              <a:t>Tokens are the </a:t>
            </a:r>
            <a:r>
              <a:rPr lang="en-US" sz="2759" b="1">
                <a:solidFill>
                  <a:srgbClr val="2B67B4"/>
                </a:solidFill>
                <a:latin typeface="Inter Bold"/>
                <a:ea typeface="Inter Bold"/>
                <a:cs typeface="Inter Bold"/>
                <a:sym typeface="Inter Bold"/>
              </a:rPr>
              <a:t>categories</a:t>
            </a:r>
            <a:r>
              <a:rPr lang="en-US" sz="2759">
                <a:solidFill>
                  <a:srgbClr val="3F4E66"/>
                </a:solidFill>
                <a:latin typeface="Inter"/>
                <a:ea typeface="Inter"/>
                <a:cs typeface="Inter"/>
                <a:sym typeface="Inter"/>
              </a:rPr>
              <a:t> we assign to them.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4493047"/>
            <a:ext cx="9811206" cy="1082267"/>
          </a:xfrm>
          <a:custGeom>
            <a:avLst/>
            <a:gdLst/>
            <a:ahLst/>
            <a:cxnLst/>
            <a:rect l="l" t="t" r="r" b="b"/>
            <a:pathLst>
              <a:path w="9811206" h="1082267">
                <a:moveTo>
                  <a:pt x="0" y="0"/>
                </a:moveTo>
                <a:lnTo>
                  <a:pt x="9811206" y="0"/>
                </a:lnTo>
                <a:lnTo>
                  <a:pt x="9811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61268" y="4996352"/>
            <a:ext cx="1213072" cy="30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47">
                <a:solidFill>
                  <a:srgbClr val="E6EFF4"/>
                </a:solidFill>
                <a:latin typeface="Inter Bold"/>
                <a:ea typeface="Inter Bold"/>
                <a:cs typeface="Inter Bold"/>
                <a:sym typeface="Inter Bold"/>
              </a:rPr>
              <a:t>LEXEME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03887" y="4996352"/>
            <a:ext cx="1447252" cy="30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47">
                <a:solidFill>
                  <a:srgbClr val="E6EFF4"/>
                </a:solidFill>
                <a:latin typeface="Inter Bold"/>
                <a:ea typeface="Inter Bold"/>
                <a:cs typeface="Inter Bold"/>
                <a:sym typeface="Inter Bold"/>
              </a:rPr>
              <a:t>EXAMPLE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95931" y="4996352"/>
            <a:ext cx="2812411" cy="30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47">
                <a:solidFill>
                  <a:srgbClr val="E6EFF4"/>
                </a:solidFill>
                <a:latin typeface="Inter Bold"/>
                <a:ea typeface="Inter Bold"/>
                <a:cs typeface="Inter Bold"/>
                <a:sym typeface="Inter Bold"/>
              </a:rPr>
              <a:t>TOKEN CATEGORY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5356674"/>
            <a:ext cx="9811206" cy="1289974"/>
          </a:xfrm>
          <a:custGeom>
            <a:avLst/>
            <a:gdLst/>
            <a:ahLst/>
            <a:cxnLst/>
            <a:rect l="l" t="t" r="r" b="b"/>
            <a:pathLst>
              <a:path w="9811206" h="1289974">
                <a:moveTo>
                  <a:pt x="0" y="0"/>
                </a:moveTo>
                <a:lnTo>
                  <a:pt x="9811206" y="0"/>
                </a:lnTo>
                <a:lnTo>
                  <a:pt x="981120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04459" y="5916561"/>
            <a:ext cx="1959582" cy="273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039" b="1" spc="-40">
                <a:solidFill>
                  <a:srgbClr val="3F4E66"/>
                </a:solidFill>
                <a:latin typeface="Inter Medium"/>
                <a:ea typeface="Inter Medium"/>
                <a:cs typeface="Inter Medium"/>
                <a:sym typeface="Inter Medium"/>
              </a:rPr>
              <a:t>keyword token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6428009"/>
            <a:ext cx="9811206" cy="1082267"/>
          </a:xfrm>
          <a:custGeom>
            <a:avLst/>
            <a:gdLst/>
            <a:ahLst/>
            <a:cxnLst/>
            <a:rect l="l" t="t" r="r" b="b"/>
            <a:pathLst>
              <a:path w="9811206" h="1082267">
                <a:moveTo>
                  <a:pt x="0" y="0"/>
                </a:moveTo>
                <a:lnTo>
                  <a:pt x="9811206" y="0"/>
                </a:lnTo>
                <a:lnTo>
                  <a:pt x="9811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655775" y="6787017"/>
            <a:ext cx="813430" cy="45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3478" b="1">
                <a:solidFill>
                  <a:srgbClr val="2B67B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82331" y="6828161"/>
            <a:ext cx="718131" cy="423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2"/>
              </a:lnSpc>
            </a:pPr>
            <a:r>
              <a:rPr lang="en-US" sz="3102" b="1">
                <a:solidFill>
                  <a:srgbClr val="2B67B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04391" y="6880455"/>
            <a:ext cx="1966388" cy="273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039" b="1" spc="-40">
                <a:solidFill>
                  <a:srgbClr val="3F4E66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identifier token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5330" y="7280704"/>
            <a:ext cx="9811206" cy="1300906"/>
          </a:xfrm>
          <a:custGeom>
            <a:avLst/>
            <a:gdLst/>
            <a:ahLst/>
            <a:cxnLst/>
            <a:rect l="l" t="t" r="r" b="b"/>
            <a:pathLst>
              <a:path w="9811206" h="1300906">
                <a:moveTo>
                  <a:pt x="0" y="0"/>
                </a:moveTo>
                <a:lnTo>
                  <a:pt x="9811206" y="0"/>
                </a:lnTo>
                <a:lnTo>
                  <a:pt x="981120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819995" y="7757395"/>
            <a:ext cx="484989" cy="45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sz="3403" b="1">
                <a:solidFill>
                  <a:srgbClr val="2B67B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91613" y="7844348"/>
            <a:ext cx="3244157" cy="273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039" b="1" spc="-40">
                <a:solidFill>
                  <a:srgbClr val="3F4E66"/>
                </a:solidFill>
                <a:latin typeface="Inter Medium"/>
                <a:ea typeface="Inter Medium"/>
                <a:cs typeface="Inter Medium"/>
                <a:sym typeface="Inter Medium"/>
              </a:rPr>
              <a:t>constant token (number)</a:t>
            </a:r>
          </a:p>
        </p:txBody>
      </p:sp>
      <p:sp>
        <p:nvSpPr>
          <p:cNvPr id="20" name="Freeform 20"/>
          <p:cNvSpPr/>
          <p:nvPr/>
        </p:nvSpPr>
        <p:spPr>
          <a:xfrm>
            <a:off x="645330" y="8352038"/>
            <a:ext cx="9811206" cy="1082267"/>
          </a:xfrm>
          <a:custGeom>
            <a:avLst/>
            <a:gdLst/>
            <a:ahLst/>
            <a:cxnLst/>
            <a:rect l="l" t="t" r="r" b="b"/>
            <a:pathLst>
              <a:path w="9811206" h="1082267">
                <a:moveTo>
                  <a:pt x="0" y="0"/>
                </a:moveTo>
                <a:lnTo>
                  <a:pt x="9811206" y="0"/>
                </a:lnTo>
                <a:lnTo>
                  <a:pt x="981120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577362" y="8729921"/>
            <a:ext cx="328068" cy="49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755" b="1">
                <a:solidFill>
                  <a:srgbClr val="2B67B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+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04706" y="8808242"/>
            <a:ext cx="1934884" cy="273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039" b="1" spc="-40">
                <a:solidFill>
                  <a:srgbClr val="3F4E66"/>
                </a:solidFill>
                <a:latin typeface="Inter Medium"/>
                <a:ea typeface="Inter Medium"/>
                <a:cs typeface="Inter Medium"/>
                <a:sym typeface="Inter Medium"/>
              </a:rPr>
              <a:t>operator token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55917" y="5823179"/>
            <a:ext cx="613146" cy="49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755" b="1">
                <a:solidFill>
                  <a:srgbClr val="2B67B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95438" y="5883554"/>
            <a:ext cx="491917" cy="39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3036" b="1">
                <a:solidFill>
                  <a:srgbClr val="2B67B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28874" y="7787592"/>
            <a:ext cx="425045" cy="40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970" b="1">
                <a:solidFill>
                  <a:srgbClr val="2B67B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8456" y="8729921"/>
            <a:ext cx="328068" cy="49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755" b="1">
                <a:solidFill>
                  <a:srgbClr val="2B67B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9517" y="913828"/>
            <a:ext cx="8378798" cy="993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92"/>
              </a:lnSpc>
            </a:pPr>
            <a:r>
              <a:rPr lang="en-US" sz="7492" b="1">
                <a:solidFill>
                  <a:srgbClr val="10253F"/>
                </a:solidFill>
                <a:latin typeface="Inter Bold"/>
                <a:ea typeface="Inter Bold"/>
                <a:cs typeface="Inter Bold"/>
                <a:sym typeface="Inter Bold"/>
              </a:rPr>
              <a:t>Practical Example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399" y="2082491"/>
            <a:ext cx="7948381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>
                <a:solidFill>
                  <a:srgbClr val="4C5562"/>
                </a:solidFill>
                <a:latin typeface="Inter Medium"/>
                <a:ea typeface="Inter Medium"/>
                <a:cs typeface="Inter Medium"/>
                <a:sym typeface="Inter Medium"/>
              </a:rPr>
              <a:t>See how a single line of code breaks down into tokens.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3214004"/>
            <a:ext cx="6759560" cy="2579949"/>
          </a:xfrm>
          <a:custGeom>
            <a:avLst/>
            <a:gdLst/>
            <a:ahLst/>
            <a:cxnLst/>
            <a:rect l="l" t="t" r="r" b="b"/>
            <a:pathLst>
              <a:path w="6759560" h="2579949">
                <a:moveTo>
                  <a:pt x="0" y="0"/>
                </a:moveTo>
                <a:lnTo>
                  <a:pt x="6759560" y="0"/>
                </a:lnTo>
                <a:lnTo>
                  <a:pt x="675956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4086" y="3421712"/>
            <a:ext cx="1323474" cy="437279"/>
          </a:xfrm>
          <a:custGeom>
            <a:avLst/>
            <a:gdLst/>
            <a:ahLst/>
            <a:cxnLst/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26130" y="4400656"/>
            <a:ext cx="5258838" cy="668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9"/>
              </a:lnSpc>
            </a:pPr>
            <a:r>
              <a:rPr lang="en-US" sz="5139">
                <a:solidFill>
                  <a:srgbClr val="72C5F1"/>
                </a:solidFill>
                <a:latin typeface="Helvetica Now"/>
                <a:ea typeface="Helvetica Now"/>
                <a:cs typeface="Helvetica Now"/>
                <a:sym typeface="Helvetica Now"/>
              </a:rPr>
              <a:t>int </a:t>
            </a:r>
            <a:r>
              <a:rPr lang="en-US" sz="5139">
                <a:solidFill>
                  <a:srgbClr val="7ED199"/>
                </a:solidFill>
                <a:latin typeface="Helvetica Now"/>
                <a:ea typeface="Helvetica Now"/>
                <a:cs typeface="Helvetica Now"/>
                <a:sym typeface="Helvetica Now"/>
              </a:rPr>
              <a:t>age </a:t>
            </a:r>
            <a:r>
              <a:rPr lang="en-US" sz="5139">
                <a:solidFill>
                  <a:srgbClr val="E69647"/>
                </a:solidFill>
                <a:latin typeface="Helvetica Now"/>
                <a:ea typeface="Helvetica Now"/>
                <a:cs typeface="Helvetica Now"/>
                <a:sym typeface="Helvetica Now"/>
              </a:rPr>
              <a:t>=</a:t>
            </a:r>
            <a:r>
              <a:rPr lang="en-US" sz="5139">
                <a:solidFill>
                  <a:srgbClr val="72C5F1"/>
                </a:solidFill>
                <a:latin typeface="Helvetica Now"/>
                <a:ea typeface="Helvetica Now"/>
                <a:cs typeface="Helvetica Now"/>
                <a:sym typeface="Helvetica Now"/>
              </a:rPr>
              <a:t> </a:t>
            </a:r>
            <a:r>
              <a:rPr lang="en-US" sz="5139">
                <a:solidFill>
                  <a:srgbClr val="EDC761"/>
                </a:solidFill>
                <a:latin typeface="Helvetica Now"/>
                <a:ea typeface="Helvetica Now"/>
                <a:cs typeface="Helvetica Now"/>
                <a:sym typeface="Helvetica Now"/>
              </a:rPr>
              <a:t>18</a:t>
            </a:r>
            <a:r>
              <a:rPr lang="en-US" sz="5139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;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4919394"/>
            <a:ext cx="7197072" cy="3443576"/>
          </a:xfrm>
          <a:custGeom>
            <a:avLst/>
            <a:gdLst/>
            <a:ahLst/>
            <a:cxnLst/>
            <a:rect l="l" t="t" r="r" b="b"/>
            <a:pathLst>
              <a:path w="7197072" h="3443576">
                <a:moveTo>
                  <a:pt x="0" y="0"/>
                </a:moveTo>
                <a:lnTo>
                  <a:pt x="7197072" y="0"/>
                </a:lnTo>
                <a:lnTo>
                  <a:pt x="719707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34487" y="6163979"/>
            <a:ext cx="4423162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>
                <a:solidFill>
                  <a:srgbClr val="4C5562"/>
                </a:solidFill>
                <a:latin typeface="Inter Medium"/>
                <a:ea typeface="Inter Medium"/>
                <a:cs typeface="Inter Medium"/>
                <a:sym typeface="Inter Medium"/>
              </a:rPr>
              <a:t>Each piece of text is a </a:t>
            </a:r>
            <a:r>
              <a:rPr lang="en-US" sz="2351" b="1">
                <a:solidFill>
                  <a:srgbClr val="2B5FAD"/>
                </a:solidFill>
                <a:latin typeface="Inter Bold"/>
                <a:ea typeface="Inter Bold"/>
                <a:cs typeface="Inter Bold"/>
                <a:sym typeface="Inter Bold"/>
              </a:rPr>
              <a:t>lexeme</a:t>
            </a:r>
            <a:r>
              <a:rPr lang="en-US" sz="2351" b="1">
                <a:solidFill>
                  <a:srgbClr val="4C5562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499" y="6871839"/>
            <a:ext cx="4921968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>
                <a:solidFill>
                  <a:srgbClr val="4C5562"/>
                </a:solidFill>
                <a:latin typeface="Inter Medium"/>
                <a:ea typeface="Inter Medium"/>
                <a:cs typeface="Inter Medium"/>
                <a:sym typeface="Inter Medium"/>
              </a:rPr>
              <a:t>The compiler groups lexemes into</a:t>
            </a:r>
          </a:p>
          <a:p>
            <a:pPr algn="l">
              <a:lnSpc>
                <a:spcPts val="3055"/>
              </a:lnSpc>
            </a:pPr>
            <a:r>
              <a:rPr lang="en-US" sz="2351" b="1">
                <a:solidFill>
                  <a:srgbClr val="2B5FAD"/>
                </a:solidFill>
                <a:latin typeface="Inter Bold"/>
                <a:ea typeface="Inter Bold"/>
                <a:cs typeface="Inter Bold"/>
                <a:sym typeface="Inter Bold"/>
              </a:rPr>
              <a:t>tokens</a:t>
            </a:r>
            <a:r>
              <a:rPr lang="en-US" sz="2351" b="1">
                <a:solidFill>
                  <a:srgbClr val="4C5562"/>
                </a:solidFill>
                <a:latin typeface="Inter Medium"/>
                <a:ea typeface="Inter Medium"/>
                <a:cs typeface="Inter Medium"/>
                <a:sym typeface="Inter Medium"/>
              </a:rPr>
              <a:t> to understand the code.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31464" y="2776725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184708" y="2776725"/>
            <a:ext cx="5239206" cy="1082267"/>
          </a:xfrm>
          <a:custGeom>
            <a:avLst/>
            <a:gdLst/>
            <a:ahLst/>
            <a:cxnLst/>
            <a:rect l="l" t="t" r="r" b="b"/>
            <a:pathLst>
              <a:path w="5239206" h="1082267">
                <a:moveTo>
                  <a:pt x="0" y="0"/>
                </a:moveTo>
                <a:lnTo>
                  <a:pt x="5239206" y="0"/>
                </a:lnTo>
                <a:lnTo>
                  <a:pt x="5239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831464" y="3640352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762286" y="3934822"/>
            <a:ext cx="656165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b="1">
                <a:solidFill>
                  <a:srgbClr val="2B5FAD"/>
                </a:solidFill>
                <a:latin typeface="Inter Medium"/>
                <a:ea typeface="Inter Medium"/>
                <a:cs typeface="Inter Medium"/>
                <a:sym typeface="Inter Medium"/>
              </a:rPr>
              <a:t>int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184708" y="3640352"/>
            <a:ext cx="5239206" cy="1082267"/>
          </a:xfrm>
          <a:custGeom>
            <a:avLst/>
            <a:gdLst/>
            <a:ahLst/>
            <a:cxnLst/>
            <a:rect l="l" t="t" r="r" b="b"/>
            <a:pathLst>
              <a:path w="5239206" h="1082267">
                <a:moveTo>
                  <a:pt x="0" y="0"/>
                </a:moveTo>
                <a:lnTo>
                  <a:pt x="5239206" y="0"/>
                </a:lnTo>
                <a:lnTo>
                  <a:pt x="5239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4125505" y="3980157"/>
            <a:ext cx="1300540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>
                <a:solidFill>
                  <a:srgbClr val="273F5F"/>
                </a:solidFill>
                <a:latin typeface="Inter Medium"/>
                <a:ea typeface="Inter Medium"/>
                <a:cs typeface="Inter Medium"/>
                <a:sym typeface="Inter Medium"/>
              </a:rPr>
              <a:t>Keyword</a:t>
            </a:r>
          </a:p>
        </p:txBody>
      </p:sp>
      <p:sp>
        <p:nvSpPr>
          <p:cNvPr id="17" name="Freeform 17"/>
          <p:cNvSpPr/>
          <p:nvPr/>
        </p:nvSpPr>
        <p:spPr>
          <a:xfrm>
            <a:off x="7831464" y="4493047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762286" y="4793290"/>
            <a:ext cx="656165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b="1">
                <a:solidFill>
                  <a:srgbClr val="7ED199"/>
                </a:solidFill>
                <a:latin typeface="Inter Medium"/>
                <a:ea typeface="Inter Medium"/>
                <a:cs typeface="Inter Medium"/>
                <a:sym typeface="Inter Medium"/>
              </a:rPr>
              <a:t>age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2184708" y="4493047"/>
            <a:ext cx="5239206" cy="1082267"/>
          </a:xfrm>
          <a:custGeom>
            <a:avLst/>
            <a:gdLst/>
            <a:ahLst/>
            <a:cxnLst/>
            <a:rect l="l" t="t" r="r" b="b"/>
            <a:pathLst>
              <a:path w="5239206" h="1082267">
                <a:moveTo>
                  <a:pt x="0" y="0"/>
                </a:moveTo>
                <a:lnTo>
                  <a:pt x="5239206" y="0"/>
                </a:lnTo>
                <a:lnTo>
                  <a:pt x="5239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4129269" y="4838625"/>
            <a:ext cx="1293012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>
                <a:solidFill>
                  <a:srgbClr val="273F5F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Identifier</a:t>
            </a:r>
          </a:p>
        </p:txBody>
      </p:sp>
      <p:sp>
        <p:nvSpPr>
          <p:cNvPr id="21" name="Freeform 21"/>
          <p:cNvSpPr/>
          <p:nvPr/>
        </p:nvSpPr>
        <p:spPr>
          <a:xfrm>
            <a:off x="7831464" y="5356674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184708" y="5356674"/>
            <a:ext cx="5239206" cy="1082267"/>
          </a:xfrm>
          <a:custGeom>
            <a:avLst/>
            <a:gdLst/>
            <a:ahLst/>
            <a:cxnLst/>
            <a:rect l="l" t="t" r="r" b="b"/>
            <a:pathLst>
              <a:path w="5239206" h="1082267">
                <a:moveTo>
                  <a:pt x="0" y="0"/>
                </a:moveTo>
                <a:lnTo>
                  <a:pt x="5239206" y="0"/>
                </a:lnTo>
                <a:lnTo>
                  <a:pt x="5239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253159" y="5666972"/>
            <a:ext cx="3045233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>
                <a:solidFill>
                  <a:srgbClr val="273F5F"/>
                </a:solidFill>
                <a:latin typeface="Inter Medium"/>
                <a:ea typeface="Inter Medium"/>
                <a:cs typeface="Inter Medium"/>
                <a:sym typeface="Inter Medium"/>
              </a:rPr>
              <a:t>Assignment operator</a:t>
            </a:r>
          </a:p>
        </p:txBody>
      </p:sp>
      <p:sp>
        <p:nvSpPr>
          <p:cNvPr id="24" name="Freeform 24"/>
          <p:cNvSpPr/>
          <p:nvPr/>
        </p:nvSpPr>
        <p:spPr>
          <a:xfrm>
            <a:off x="7831464" y="6209369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184708" y="6209369"/>
            <a:ext cx="5239206" cy="1082267"/>
          </a:xfrm>
          <a:custGeom>
            <a:avLst/>
            <a:gdLst/>
            <a:ahLst/>
            <a:cxnLst/>
            <a:rect l="l" t="t" r="r" b="b"/>
            <a:pathLst>
              <a:path w="5239206" h="1082267">
                <a:moveTo>
                  <a:pt x="0" y="0"/>
                </a:moveTo>
                <a:lnTo>
                  <a:pt x="5239206" y="0"/>
                </a:lnTo>
                <a:lnTo>
                  <a:pt x="5239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831464" y="7062064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9981007" y="7413877"/>
            <a:ext cx="218722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b="1">
                <a:solidFill>
                  <a:srgbClr val="273F5F"/>
                </a:solidFill>
                <a:latin typeface="Inter Medium"/>
                <a:ea typeface="Inter Medium"/>
                <a:cs typeface="Inter Medium"/>
                <a:sym typeface="Inter Medium"/>
              </a:rPr>
              <a:t>;</a:t>
            </a:r>
          </a:p>
        </p:txBody>
      </p:sp>
      <p:sp>
        <p:nvSpPr>
          <p:cNvPr id="28" name="Freeform 28"/>
          <p:cNvSpPr/>
          <p:nvPr/>
        </p:nvSpPr>
        <p:spPr>
          <a:xfrm>
            <a:off x="12184708" y="7062064"/>
            <a:ext cx="5239206" cy="1082267"/>
          </a:xfrm>
          <a:custGeom>
            <a:avLst/>
            <a:gdLst/>
            <a:ahLst/>
            <a:cxnLst/>
            <a:rect l="l" t="t" r="r" b="b"/>
            <a:pathLst>
              <a:path w="5239206" h="1082267">
                <a:moveTo>
                  <a:pt x="0" y="0"/>
                </a:moveTo>
                <a:lnTo>
                  <a:pt x="5239206" y="0"/>
                </a:lnTo>
                <a:lnTo>
                  <a:pt x="5239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0" y="8570678"/>
            <a:ext cx="18288000" cy="1716322"/>
          </a:xfrm>
          <a:custGeom>
            <a:avLst/>
            <a:gdLst/>
            <a:ahLst/>
            <a:cxnLst/>
            <a:rect l="l" t="t" r="r" b="b"/>
            <a:pathLst>
              <a:path w="18288000" h="1716322">
                <a:moveTo>
                  <a:pt x="0" y="0"/>
                </a:moveTo>
                <a:lnTo>
                  <a:pt x="18288000" y="0"/>
                </a:lnTo>
                <a:lnTo>
                  <a:pt x="1828800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665211" y="9288747"/>
            <a:ext cx="11167133" cy="32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>
                <a:solidFill>
                  <a:srgbClr val="273F5F"/>
                </a:solidFill>
                <a:latin typeface="Inter Bold"/>
                <a:ea typeface="Inter Bold"/>
                <a:cs typeface="Inter Bold"/>
                <a:sym typeface="Inter Bold"/>
              </a:rPr>
              <a:t>Tokens guide the parser to check correctness and build program logic.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337698" y="7414029"/>
            <a:ext cx="2876154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>
                <a:solidFill>
                  <a:srgbClr val="273F5F"/>
                </a:solidFill>
                <a:latin typeface="Inter Medium"/>
                <a:ea typeface="Inter Medium"/>
                <a:cs typeface="Inter Medium"/>
                <a:sym typeface="Inter Medium"/>
              </a:rPr>
              <a:t>Punctuation symbol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587704" y="6540500"/>
            <a:ext cx="2376143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>
                <a:solidFill>
                  <a:srgbClr val="273F5F"/>
                </a:solidFill>
                <a:latin typeface="Inter Medium"/>
                <a:ea typeface="Inter Medium"/>
                <a:cs typeface="Inter Medium"/>
                <a:sym typeface="Inter Medium"/>
              </a:rPr>
              <a:t>Integer constant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794498" y="3136750"/>
            <a:ext cx="1962554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>
                <a:solidFill>
                  <a:srgbClr val="10253F"/>
                </a:solidFill>
                <a:latin typeface="Inter Bold"/>
                <a:ea typeface="Inter Bold"/>
                <a:cs typeface="Inter Bold"/>
                <a:sym typeface="Inter Bold"/>
              </a:rPr>
              <a:t>TOKEN TYPE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67801" y="3136750"/>
            <a:ext cx="1245134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LEXEME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634055"/>
            <a:ext cx="9144000" cy="9652945"/>
          </a:xfrm>
          <a:custGeom>
            <a:avLst/>
            <a:gdLst/>
            <a:ahLst/>
            <a:cxnLst/>
            <a:rect l="l" t="t" r="r" b="b"/>
            <a:pathLst>
              <a:path w="9144000" h="9652945">
                <a:moveTo>
                  <a:pt x="0" y="0"/>
                </a:moveTo>
                <a:lnTo>
                  <a:pt x="9144000" y="0"/>
                </a:lnTo>
                <a:lnTo>
                  <a:pt x="9144000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7017" y="1456584"/>
            <a:ext cx="5665521" cy="105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7961" b="1">
                <a:solidFill>
                  <a:srgbClr val="193454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8025" y="3334848"/>
            <a:ext cx="7564725" cy="339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2575" b="1">
                <a:solidFill>
                  <a:srgbClr val="293C54"/>
                </a:solidFill>
                <a:latin typeface="Inter Medium"/>
                <a:ea typeface="Inter Medium"/>
                <a:cs typeface="Inter Medium"/>
                <a:sym typeface="Inter Medium"/>
              </a:rPr>
              <a:t>Tokens represent categories of code symbols.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390" y="4208324"/>
            <a:ext cx="8328180" cy="339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2575" b="1">
                <a:solidFill>
                  <a:srgbClr val="293C54"/>
                </a:solidFill>
                <a:latin typeface="Inter Medium"/>
                <a:ea typeface="Inter Medium"/>
                <a:cs typeface="Inter Medium"/>
                <a:sym typeface="Inter Medium"/>
              </a:rPr>
              <a:t>Lexemes are actual text sequences in source code.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1617" y="5066845"/>
            <a:ext cx="8205498" cy="339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2575" b="1">
                <a:solidFill>
                  <a:srgbClr val="293C54"/>
                </a:solidFill>
                <a:latin typeface="Inter Medium"/>
                <a:ea typeface="Inter Medium"/>
                <a:cs typeface="Inter Medium"/>
                <a:sym typeface="Inter Medium"/>
              </a:rPr>
              <a:t>Lexical analysis finds lexemes and creates tokens.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3526" y="5955435"/>
            <a:ext cx="8014551" cy="339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2575" b="1">
                <a:solidFill>
                  <a:srgbClr val="293C54"/>
                </a:solidFill>
                <a:latin typeface="Inter Medium"/>
                <a:ea typeface="Inter Medium"/>
                <a:cs typeface="Inter Medium"/>
                <a:sym typeface="Inter Medium"/>
              </a:rPr>
              <a:t>Tokens are sent to the parser for syntax analysis.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1285" y="7182727"/>
            <a:ext cx="6238699" cy="537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170" b="1">
                <a:solidFill>
                  <a:srgbClr val="145FB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Thank you for listening!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C5484-ED4C-2036-FF99-058896ED6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78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Custom</PresentationFormat>
  <Paragraphs>87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Canva Sans</vt:lpstr>
      <vt:lpstr>Inter Bold</vt:lpstr>
      <vt:lpstr>Helvetica Now</vt:lpstr>
      <vt:lpstr>Inter</vt:lpstr>
      <vt:lpstr>Calibri</vt:lpstr>
      <vt:lpstr>Helvetica Now Bold</vt:lpstr>
      <vt:lpstr>Arial</vt:lpstr>
      <vt:lpstr>Inter Medium</vt:lpstr>
      <vt:lpstr>Inter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Tokens and Lexemes</dc:title>
  <cp:lastModifiedBy>Keerthana Sarathy</cp:lastModifiedBy>
  <cp:revision>2</cp:revision>
  <dcterms:created xsi:type="dcterms:W3CDTF">2006-08-16T00:00:00Z</dcterms:created>
  <dcterms:modified xsi:type="dcterms:W3CDTF">2026-10-13T15:55:30Z</dcterms:modified>
  <dc:identifier>DAHXzyzT4Hs</dc:identifier>
</cp:coreProperties>
</file>